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4125" y="133350"/>
            <a:ext cx="1657350" cy="4667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63" y="4825"/>
            <a:ext cx="9829800" cy="714375"/>
          </a:xfrm>
          <a:custGeom>
            <a:avLst/>
            <a:gdLst/>
            <a:ahLst/>
            <a:cxnLst/>
            <a:rect l="l" t="t" r="r" b="b"/>
            <a:pathLst>
              <a:path w="9829800" h="714375">
                <a:moveTo>
                  <a:pt x="9829800" y="0"/>
                </a:moveTo>
                <a:lnTo>
                  <a:pt x="0" y="0"/>
                </a:lnTo>
                <a:lnTo>
                  <a:pt x="0" y="714375"/>
                </a:lnTo>
                <a:lnTo>
                  <a:pt x="9829800" y="714375"/>
                </a:lnTo>
                <a:lnTo>
                  <a:pt x="9829800" y="0"/>
                </a:lnTo>
                <a:close/>
              </a:path>
            </a:pathLst>
          </a:custGeom>
          <a:solidFill>
            <a:srgbClr val="2031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3" y="4825"/>
            <a:ext cx="9829800" cy="714375"/>
          </a:xfrm>
          <a:custGeom>
            <a:avLst/>
            <a:gdLst/>
            <a:ahLst/>
            <a:cxnLst/>
            <a:rect l="l" t="t" r="r" b="b"/>
            <a:pathLst>
              <a:path w="9829800" h="714375">
                <a:moveTo>
                  <a:pt x="0" y="714375"/>
                </a:moveTo>
                <a:lnTo>
                  <a:pt x="9829800" y="714375"/>
                </a:lnTo>
                <a:lnTo>
                  <a:pt x="9829800" y="0"/>
                </a:lnTo>
                <a:lnTo>
                  <a:pt x="0" y="0"/>
                </a:lnTo>
                <a:lnTo>
                  <a:pt x="0" y="714375"/>
                </a:lnTo>
                <a:close/>
              </a:path>
            </a:pathLst>
          </a:custGeom>
          <a:ln w="25400">
            <a:solidFill>
              <a:srgbClr val="20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886949" y="0"/>
            <a:ext cx="114300" cy="733425"/>
          </a:xfrm>
          <a:custGeom>
            <a:avLst/>
            <a:gdLst/>
            <a:ahLst/>
            <a:cxnLst/>
            <a:rect l="l" t="t" r="r" b="b"/>
            <a:pathLst>
              <a:path w="114300" h="733425">
                <a:moveTo>
                  <a:pt x="114300" y="0"/>
                </a:moveTo>
                <a:lnTo>
                  <a:pt x="0" y="0"/>
                </a:lnTo>
                <a:lnTo>
                  <a:pt x="0" y="733425"/>
                </a:lnTo>
                <a:lnTo>
                  <a:pt x="114300" y="733425"/>
                </a:lnTo>
                <a:lnTo>
                  <a:pt x="114300" y="0"/>
                </a:lnTo>
                <a:close/>
              </a:path>
            </a:pathLst>
          </a:custGeom>
          <a:solidFill>
            <a:srgbClr val="7E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839324" cy="7239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1925300" y="0"/>
            <a:ext cx="266700" cy="733425"/>
          </a:xfrm>
          <a:custGeom>
            <a:avLst/>
            <a:gdLst/>
            <a:ahLst/>
            <a:cxnLst/>
            <a:rect l="l" t="t" r="r" b="b"/>
            <a:pathLst>
              <a:path w="266700" h="733425">
                <a:moveTo>
                  <a:pt x="266700" y="0"/>
                </a:moveTo>
                <a:lnTo>
                  <a:pt x="0" y="0"/>
                </a:lnTo>
                <a:lnTo>
                  <a:pt x="0" y="733425"/>
                </a:lnTo>
                <a:lnTo>
                  <a:pt x="266700" y="733425"/>
                </a:lnTo>
                <a:lnTo>
                  <a:pt x="266700" y="0"/>
                </a:lnTo>
                <a:close/>
              </a:path>
            </a:pathLst>
          </a:custGeom>
          <a:solidFill>
            <a:srgbClr val="FDD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5881751" y="585851"/>
            <a:ext cx="4667250" cy="981075"/>
          </a:xfrm>
          <a:custGeom>
            <a:avLst/>
            <a:gdLst/>
            <a:ahLst/>
            <a:cxnLst/>
            <a:rect l="l" t="t" r="r" b="b"/>
            <a:pathLst>
              <a:path w="4667250" h="981075">
                <a:moveTo>
                  <a:pt x="4503674" y="0"/>
                </a:moveTo>
                <a:lnTo>
                  <a:pt x="163449" y="0"/>
                </a:lnTo>
                <a:lnTo>
                  <a:pt x="119988" y="5836"/>
                </a:lnTo>
                <a:lnTo>
                  <a:pt x="80941" y="22309"/>
                </a:lnTo>
                <a:lnTo>
                  <a:pt x="47863" y="47863"/>
                </a:lnTo>
                <a:lnTo>
                  <a:pt x="22309" y="80941"/>
                </a:lnTo>
                <a:lnTo>
                  <a:pt x="5836" y="119988"/>
                </a:lnTo>
                <a:lnTo>
                  <a:pt x="0" y="163449"/>
                </a:lnTo>
                <a:lnTo>
                  <a:pt x="0" y="817499"/>
                </a:lnTo>
                <a:lnTo>
                  <a:pt x="5836" y="860968"/>
                </a:lnTo>
                <a:lnTo>
                  <a:pt x="22309" y="900039"/>
                </a:lnTo>
                <a:lnTo>
                  <a:pt x="47863" y="933148"/>
                </a:lnTo>
                <a:lnTo>
                  <a:pt x="80941" y="958732"/>
                </a:lnTo>
                <a:lnTo>
                  <a:pt x="119988" y="975228"/>
                </a:lnTo>
                <a:lnTo>
                  <a:pt x="163449" y="981075"/>
                </a:lnTo>
                <a:lnTo>
                  <a:pt x="4503674" y="981075"/>
                </a:lnTo>
                <a:lnTo>
                  <a:pt x="4547143" y="975228"/>
                </a:lnTo>
                <a:lnTo>
                  <a:pt x="4586214" y="958732"/>
                </a:lnTo>
                <a:lnTo>
                  <a:pt x="4619323" y="933148"/>
                </a:lnTo>
                <a:lnTo>
                  <a:pt x="4644907" y="900039"/>
                </a:lnTo>
                <a:lnTo>
                  <a:pt x="4661403" y="860968"/>
                </a:lnTo>
                <a:lnTo>
                  <a:pt x="4667250" y="817499"/>
                </a:lnTo>
                <a:lnTo>
                  <a:pt x="4667250" y="163449"/>
                </a:lnTo>
                <a:lnTo>
                  <a:pt x="4661403" y="119988"/>
                </a:lnTo>
                <a:lnTo>
                  <a:pt x="4644907" y="80941"/>
                </a:lnTo>
                <a:lnTo>
                  <a:pt x="4619323" y="47863"/>
                </a:lnTo>
                <a:lnTo>
                  <a:pt x="4586214" y="22309"/>
                </a:lnTo>
                <a:lnTo>
                  <a:pt x="4547143" y="5836"/>
                </a:lnTo>
                <a:lnTo>
                  <a:pt x="4503674" y="0"/>
                </a:lnTo>
                <a:close/>
              </a:path>
            </a:pathLst>
          </a:custGeom>
          <a:solidFill>
            <a:srgbClr val="EBE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881751" y="585851"/>
            <a:ext cx="4667250" cy="981075"/>
          </a:xfrm>
          <a:custGeom>
            <a:avLst/>
            <a:gdLst/>
            <a:ahLst/>
            <a:cxnLst/>
            <a:rect l="l" t="t" r="r" b="b"/>
            <a:pathLst>
              <a:path w="4667250" h="981075">
                <a:moveTo>
                  <a:pt x="0" y="163449"/>
                </a:moveTo>
                <a:lnTo>
                  <a:pt x="5836" y="119988"/>
                </a:lnTo>
                <a:lnTo>
                  <a:pt x="22309" y="80941"/>
                </a:lnTo>
                <a:lnTo>
                  <a:pt x="47863" y="47863"/>
                </a:lnTo>
                <a:lnTo>
                  <a:pt x="80941" y="22309"/>
                </a:lnTo>
                <a:lnTo>
                  <a:pt x="119988" y="5836"/>
                </a:lnTo>
                <a:lnTo>
                  <a:pt x="163449" y="0"/>
                </a:lnTo>
                <a:lnTo>
                  <a:pt x="4503674" y="0"/>
                </a:lnTo>
                <a:lnTo>
                  <a:pt x="4547143" y="5836"/>
                </a:lnTo>
                <a:lnTo>
                  <a:pt x="4586214" y="22309"/>
                </a:lnTo>
                <a:lnTo>
                  <a:pt x="4619323" y="47863"/>
                </a:lnTo>
                <a:lnTo>
                  <a:pt x="4644907" y="80941"/>
                </a:lnTo>
                <a:lnTo>
                  <a:pt x="4661403" y="119988"/>
                </a:lnTo>
                <a:lnTo>
                  <a:pt x="4667250" y="163449"/>
                </a:lnTo>
                <a:lnTo>
                  <a:pt x="4667250" y="817499"/>
                </a:lnTo>
                <a:lnTo>
                  <a:pt x="4661403" y="860968"/>
                </a:lnTo>
                <a:lnTo>
                  <a:pt x="4644907" y="900039"/>
                </a:lnTo>
                <a:lnTo>
                  <a:pt x="4619323" y="933148"/>
                </a:lnTo>
                <a:lnTo>
                  <a:pt x="4586214" y="958732"/>
                </a:lnTo>
                <a:lnTo>
                  <a:pt x="4547143" y="975228"/>
                </a:lnTo>
                <a:lnTo>
                  <a:pt x="4503674" y="981075"/>
                </a:lnTo>
                <a:lnTo>
                  <a:pt x="163449" y="981075"/>
                </a:lnTo>
                <a:lnTo>
                  <a:pt x="119988" y="975228"/>
                </a:lnTo>
                <a:lnTo>
                  <a:pt x="80941" y="958732"/>
                </a:lnTo>
                <a:lnTo>
                  <a:pt x="47863" y="933148"/>
                </a:lnTo>
                <a:lnTo>
                  <a:pt x="22309" y="900039"/>
                </a:lnTo>
                <a:lnTo>
                  <a:pt x="5836" y="860968"/>
                </a:lnTo>
                <a:lnTo>
                  <a:pt x="0" y="817499"/>
                </a:lnTo>
                <a:lnTo>
                  <a:pt x="0" y="163449"/>
                </a:lnTo>
                <a:close/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44125" y="133350"/>
            <a:ext cx="1657350" cy="4667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63" y="4825"/>
            <a:ext cx="9829800" cy="714375"/>
          </a:xfrm>
          <a:custGeom>
            <a:avLst/>
            <a:gdLst/>
            <a:ahLst/>
            <a:cxnLst/>
            <a:rect l="l" t="t" r="r" b="b"/>
            <a:pathLst>
              <a:path w="9829800" h="714375">
                <a:moveTo>
                  <a:pt x="9829800" y="0"/>
                </a:moveTo>
                <a:lnTo>
                  <a:pt x="0" y="0"/>
                </a:lnTo>
                <a:lnTo>
                  <a:pt x="0" y="714375"/>
                </a:lnTo>
                <a:lnTo>
                  <a:pt x="9829800" y="714375"/>
                </a:lnTo>
                <a:lnTo>
                  <a:pt x="9829800" y="0"/>
                </a:lnTo>
                <a:close/>
              </a:path>
            </a:pathLst>
          </a:custGeom>
          <a:solidFill>
            <a:srgbClr val="2031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3" y="4825"/>
            <a:ext cx="9829800" cy="714375"/>
          </a:xfrm>
          <a:custGeom>
            <a:avLst/>
            <a:gdLst/>
            <a:ahLst/>
            <a:cxnLst/>
            <a:rect l="l" t="t" r="r" b="b"/>
            <a:pathLst>
              <a:path w="9829800" h="714375">
                <a:moveTo>
                  <a:pt x="0" y="714375"/>
                </a:moveTo>
                <a:lnTo>
                  <a:pt x="9829800" y="714375"/>
                </a:lnTo>
                <a:lnTo>
                  <a:pt x="9829800" y="0"/>
                </a:lnTo>
                <a:lnTo>
                  <a:pt x="0" y="0"/>
                </a:lnTo>
                <a:lnTo>
                  <a:pt x="0" y="714375"/>
                </a:lnTo>
                <a:close/>
              </a:path>
            </a:pathLst>
          </a:custGeom>
          <a:ln w="25400">
            <a:solidFill>
              <a:srgbClr val="20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886949" y="0"/>
            <a:ext cx="114300" cy="733425"/>
          </a:xfrm>
          <a:custGeom>
            <a:avLst/>
            <a:gdLst/>
            <a:ahLst/>
            <a:cxnLst/>
            <a:rect l="l" t="t" r="r" b="b"/>
            <a:pathLst>
              <a:path w="114300" h="733425">
                <a:moveTo>
                  <a:pt x="114300" y="0"/>
                </a:moveTo>
                <a:lnTo>
                  <a:pt x="0" y="0"/>
                </a:lnTo>
                <a:lnTo>
                  <a:pt x="0" y="733425"/>
                </a:lnTo>
                <a:lnTo>
                  <a:pt x="114300" y="733425"/>
                </a:lnTo>
                <a:lnTo>
                  <a:pt x="114300" y="0"/>
                </a:lnTo>
                <a:close/>
              </a:path>
            </a:pathLst>
          </a:custGeom>
          <a:solidFill>
            <a:srgbClr val="7E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839324" cy="7239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1925300" y="0"/>
            <a:ext cx="266700" cy="733425"/>
          </a:xfrm>
          <a:custGeom>
            <a:avLst/>
            <a:gdLst/>
            <a:ahLst/>
            <a:cxnLst/>
            <a:rect l="l" t="t" r="r" b="b"/>
            <a:pathLst>
              <a:path w="266700" h="733425">
                <a:moveTo>
                  <a:pt x="266700" y="0"/>
                </a:moveTo>
                <a:lnTo>
                  <a:pt x="0" y="0"/>
                </a:lnTo>
                <a:lnTo>
                  <a:pt x="0" y="733425"/>
                </a:lnTo>
                <a:lnTo>
                  <a:pt x="266700" y="733425"/>
                </a:lnTo>
                <a:lnTo>
                  <a:pt x="266700" y="0"/>
                </a:lnTo>
                <a:close/>
              </a:path>
            </a:pathLst>
          </a:custGeom>
          <a:solidFill>
            <a:srgbClr val="FDD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629" y="997648"/>
            <a:ext cx="3376929" cy="429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4195" y="1745932"/>
            <a:ext cx="11103609" cy="427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7754" y="2970212"/>
            <a:ext cx="632714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b="1" dirty="0">
                <a:latin typeface="+mj-lt"/>
                <a:cs typeface="Georgia"/>
              </a:rPr>
              <a:t>Household Energy Consumption Analysis</a:t>
            </a:r>
            <a:endParaRPr sz="3600" b="1" dirty="0">
              <a:latin typeface="+mj-lt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86575" y="742950"/>
            <a:ext cx="2647950" cy="666750"/>
            <a:chOff x="6886575" y="742950"/>
            <a:chExt cx="2647950" cy="666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7700" y="866775"/>
              <a:ext cx="1266825" cy="4095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6575" y="742950"/>
              <a:ext cx="790575" cy="6667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25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629443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6650" y="1514475"/>
            <a:ext cx="4181475" cy="45624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24925" y="3187064"/>
            <a:ext cx="130937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b="1" spc="-20" dirty="0">
                <a:latin typeface="Arial"/>
                <a:cs typeface="Arial"/>
              </a:rPr>
              <a:t>GOAL</a:t>
            </a:r>
            <a:endParaRPr sz="3500">
              <a:latin typeface="Arial"/>
              <a:cs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A91119B-32D4-76FC-14E4-76DF9485560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4629" y="1527235"/>
            <a:ext cx="7848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Consumption Patterns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 deep insights into household energy usage trends across time and appliance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Data Preprocessing and Feature Engineering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transform the dataset to enhance quality and extract meaningful features.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and Train Predictive Models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optimized machine learning models to accurately predict energy consumption.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Model Performance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metrics like R², MAE, and RMSE to validate model efficiency and 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prediction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Insightful Visualizations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key findings visually to highlight consumption patterns and model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Real-World Application Insights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 analytical findings into actionable recommendations for energy-saving strategies and smart-home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dirty="0"/>
              <a:t>T</a:t>
            </a:r>
            <a:r>
              <a:rPr dirty="0"/>
              <a:t>ools</a:t>
            </a:r>
            <a:r>
              <a:rPr spc="-30" dirty="0"/>
              <a:t> </a:t>
            </a:r>
            <a:r>
              <a:rPr dirty="0"/>
              <a:t>and Technology</a:t>
            </a:r>
            <a:r>
              <a:rPr spc="-40" dirty="0"/>
              <a:t> </a:t>
            </a:r>
            <a:r>
              <a:rPr spc="-20" dirty="0"/>
              <a:t>used</a:t>
            </a:r>
            <a:endParaRPr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B82436-B4AE-8E77-32C0-07182C3D4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86801"/>
            <a:ext cx="9601200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Programming language for data processing and model building.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/ Google 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Interactive environment for coding and visualization.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&amp; 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manipulation and numerical computation libraries.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&amp; Seaborn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Visualization tools for plotting energy trends and model metrics.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Machine learning library used for model training, evaluation, and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and GitHub (GitHub repo: Sriswathi2007/Energy) for managing project code and collaboration.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75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427542"/>
            <a:ext cx="10593070" cy="541148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Acquired household energy consumption data from reliable sources (CSV dataset).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Cleaned missing values and formatted timestamp features for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Extracted useful features like hour, day of week, and previous energy usage.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Building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Trained machine learning models (e.g., Random Forest, Linear Regression) to predict energy consumption.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Evaluation &amp; Visualization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Assessed performance using R², RMSE, and visualized results for insights.</a:t>
            </a:r>
          </a:p>
          <a:p>
            <a:pPr marL="298450" marR="5080" indent="-285750">
              <a:lnSpc>
                <a:spcPts val="2550"/>
              </a:lnSpc>
              <a:spcBef>
                <a:spcPts val="85"/>
              </a:spcBef>
              <a:buFont typeface="Arial MT"/>
              <a:buChar char="•"/>
              <a:tabLst>
                <a:tab pos="298450" algn="l"/>
              </a:tabLst>
            </a:pPr>
            <a:endParaRPr sz="20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663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spc="-40" dirty="0"/>
              <a:t> </a:t>
            </a:r>
            <a:r>
              <a:rPr spc="-10" dirty="0"/>
              <a:t>Statement: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16A591-B0CE-5C73-471E-61B52C711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10210800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Energy Usage: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Households are consuming more energy due to increasing electrical appliances.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Consumption Awareness: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don’t have clear insights into how and when energy is being used.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Prediction: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Predicting future energy usage can help reduce wastage and lower electricity bills.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663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Solution: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44195" y="1745932"/>
            <a:ext cx="11103609" cy="455214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Predictive ML Model: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supervised learning model predicts household energy usage (e.g., energy in kWh) based on input factors such as time of day, appliance usage, temperature, and occupancy.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Actionable Insights: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identifies key drivers of energy consumption (e.g., specific appliances, temperature variations), helping users and energy providers make smarter decisions to reduce wastage and improve efficiency.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User-Friendly Interface: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Insights and predictions can be integrated into an interactive dashboard or app, allowing non-technical users to input data and visualize energy patterns over time.</a:t>
            </a:r>
          </a:p>
          <a:p>
            <a:pPr marL="14605" marR="430530">
              <a:lnSpc>
                <a:spcPct val="104800"/>
              </a:lnSpc>
              <a:spcBef>
                <a:spcPts val="20"/>
              </a:spcBef>
              <a:tabLst>
                <a:tab pos="30099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532" y="711136"/>
            <a:ext cx="27152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Screenshot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Output:</a:t>
            </a:r>
          </a:p>
        </p:txBody>
      </p:sp>
      <p:pic>
        <p:nvPicPr>
          <p:cNvPr id="5122" name="Picture 2" descr="Lightbox">
            <a:extLst>
              <a:ext uri="{FF2B5EF4-FFF2-40B4-BE49-F238E27FC236}">
                <a16:creationId xmlns:a16="http://schemas.microsoft.com/office/drawing/2014/main" id="{8E4FC4F4-C0A7-BC24-F47A-8ABC82AC9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19" y="1738276"/>
            <a:ext cx="4758948" cy="335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D8538F-24BE-B7E2-DD45-39F799399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72" y="1385962"/>
            <a:ext cx="5236807" cy="2631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A44F77-FC3D-828E-E725-547401D80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418297"/>
            <a:ext cx="3581400" cy="20020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1E72EF-A8AB-D07A-1549-CEB01AFA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63102"/>
            <a:ext cx="9462771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Predictions: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learning models effectively forecast household energy consumption.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Insights: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consumption patterns and factors are identified to support energy-saving strategies.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can be integrated into smart systems for real-time usage monitoring and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510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MT</vt:lpstr>
      <vt:lpstr>Georgia</vt:lpstr>
      <vt:lpstr>Office Theme</vt:lpstr>
      <vt:lpstr>PowerPoint Presentation</vt:lpstr>
      <vt:lpstr>Learning Objectives</vt:lpstr>
      <vt:lpstr>Tools and Technology used</vt:lpstr>
      <vt:lpstr>Methodology</vt:lpstr>
      <vt:lpstr>Problem Statement:</vt:lpstr>
      <vt:lpstr>Solution:</vt:lpstr>
      <vt:lpstr>Screenshot of Output: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Swathy</dc:creator>
  <cp:lastModifiedBy>Sri Swathy</cp:lastModifiedBy>
  <cp:revision>1</cp:revision>
  <dcterms:created xsi:type="dcterms:W3CDTF">2025-11-17T14:55:31Z</dcterms:created>
  <dcterms:modified xsi:type="dcterms:W3CDTF">2025-11-17T15:22:56Z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LastSaved">
    <vt:filetime>2025-11-17T00:00:00Z</vt:filetime>
  </property>
</Properties>
</file>